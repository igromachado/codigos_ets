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4" r:id="rId6"/>
    <p:sldId id="273" r:id="rId7"/>
    <p:sldId id="272" r:id="rId8"/>
    <p:sldId id="267" r:id="rId9"/>
    <p:sldId id="257" r:id="rId10"/>
    <p:sldId id="275" r:id="rId11"/>
    <p:sldId id="259" r:id="rId12"/>
    <p:sldId id="276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32664-E5FF-283D-70C6-864381BC7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3CAF54-219D-4C81-FC80-E6FCFD0EB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F42141-4142-8E69-F0F6-F5BF3FDA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A4634D-1872-2352-ADA3-AD5C31F8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F94FFF-EADE-8082-C5E6-5CBC34F4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17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365C8-B463-7B0D-DA5B-5CD4A389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F75F88-411D-E724-1A01-F5FBDA23F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F11588-9C92-05F1-B2A2-F413FDC9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20D6B6-02EF-B887-B1C7-219F2696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2DDF54-41E7-4F0C-0A07-95638D231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962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B94F4-7332-8693-58F5-FB134C78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561B00-8F6D-FF02-A1B0-4E8917D87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F68D96-30B8-CE7C-6FCF-8FA79E9A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90CCAE-93B5-EC29-F62F-040F6F65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EFE57F-F311-0CBD-0400-60D1CA2D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172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0868B-F489-C3D8-8D24-AA5E56DF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8995A-C706-F9E8-3E78-A1CDAF3B8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B1E4B9-DF41-D2A7-85D7-595FBC8D3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A6BF8D-0E7E-5EBD-5A9C-C1C99B15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50B24B-2357-57B2-669A-A89D96A8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95D113-1BAF-F81B-5938-F76EF2B1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34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237C6-423F-8762-D3DB-D5CA7584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D99BDD-AAAB-A7E7-04BA-40CC18F30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C7A296-519F-9949-59CF-9E9A604CC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12C001-34A3-0D67-A5D6-32048BC9B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B88340-155C-2C0A-4C2A-146749AFB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49B0992-4F23-8248-CDF7-1C3F15C5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90E79B-A435-19D4-CC40-14B9542C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35B41B-B79A-8191-27AC-64438CA9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213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604D6-B455-D57E-EC21-5DDF47CB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76D2AC-BEDE-AC02-7912-E8A47811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EAA500-8AB2-5836-11F3-9B44A5F2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B14C31-CB25-51A3-125D-E985B14D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09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E223AC-C540-673E-3974-F273E9A5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3D0906-658B-914F-0611-AC77DF41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1EFCA3-233D-011C-298C-76FE3FB8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24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7F78D-3278-927E-2589-15CB2A8E3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D9E593-BF59-A12D-D9D7-E34D69526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2BBCCA-3D66-F262-A92C-229353BE1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83F593-B1DE-C830-70E1-8CFE24C9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50865D-1B5B-9E84-8565-34615EC6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727241-1A8B-A8BD-38B1-F4EB38FE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15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AE051-9704-0C96-B82C-C4F3AAD4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FA78223-403A-C615-A3A7-30F900F80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2ACEEF-FD76-270A-7F7F-16B62496D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AC98E9-13D5-EBD2-C1FE-93CF0C84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6DE3B6-4AA2-7D07-B2BA-52347F81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02A1DD-1B6E-74C5-9C05-2E95DFC6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211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BF621-1C6A-EAEE-13E0-9E45AF02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82084E-D2AD-0D1B-C9E9-063D722DA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2F26BD-9B02-1A71-2577-4E3FB9CE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84BD32-B9CD-AC2E-6DAA-1223BE737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72AACA-E85B-B137-0CCA-C6C5E228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30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AAC1F4-9990-0C20-C0C1-B60150DF8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074A8A-A056-5D98-FEA5-317DB8EC6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84C45-586C-F099-4BAC-F9AE0430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21D109-7957-0A08-D940-F8584920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3A9FA-C3CC-BEA9-07ED-DBC61DBB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88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C535726-41E4-3F8E-03FF-F731F253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45C747-124F-E3B8-95FA-44B58EA20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9F70E8-3DAF-9126-65A6-46DCE634C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7CE5E-6298-4B23-AE80-175FF73B81EE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6B72A2-1248-D549-B020-D2C6224A0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ACE287-E75A-BEC2-BDCB-2548E8B30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D2F01-05B7-4162-B7BD-F43295A055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41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9BC868C-ABE8-5F97-BFD9-D8E07750545C}"/>
              </a:ext>
            </a:extLst>
          </p:cNvPr>
          <p:cNvSpPr txBox="1"/>
          <p:nvPr/>
        </p:nvSpPr>
        <p:spPr>
          <a:xfrm>
            <a:off x="402565" y="234408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REGRESSÃO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7CA3DDD-9B74-1ECA-0F81-F42759549C8C}"/>
              </a:ext>
            </a:extLst>
          </p:cNvPr>
          <p:cNvSpPr/>
          <p:nvPr/>
        </p:nvSpPr>
        <p:spPr>
          <a:xfrm>
            <a:off x="92017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27B15F2-C6BA-C78F-718D-C549F0CB384E}"/>
              </a:ext>
            </a:extLst>
          </p:cNvPr>
          <p:cNvSpPr/>
          <p:nvPr/>
        </p:nvSpPr>
        <p:spPr>
          <a:xfrm>
            <a:off x="3117969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992BF96-AD67-F4C2-AF3E-9042D83CD9CE}"/>
              </a:ext>
            </a:extLst>
          </p:cNvPr>
          <p:cNvSpPr/>
          <p:nvPr/>
        </p:nvSpPr>
        <p:spPr>
          <a:xfrm>
            <a:off x="6143921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6BCE22C-7D65-F41A-780A-09EE825504B9}"/>
              </a:ext>
            </a:extLst>
          </p:cNvPr>
          <p:cNvSpPr txBox="1"/>
          <p:nvPr/>
        </p:nvSpPr>
        <p:spPr>
          <a:xfrm>
            <a:off x="3185678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Múltipla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D80D110-0C44-840E-36A8-E451ACC60ADC}"/>
              </a:ext>
            </a:extLst>
          </p:cNvPr>
          <p:cNvSpPr txBox="1"/>
          <p:nvPr/>
        </p:nvSpPr>
        <p:spPr>
          <a:xfrm>
            <a:off x="92017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Simples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CF1053E-FD2F-6513-E0C1-0D356D9316BA}"/>
              </a:ext>
            </a:extLst>
          </p:cNvPr>
          <p:cNvSpPr txBox="1"/>
          <p:nvPr/>
        </p:nvSpPr>
        <p:spPr>
          <a:xfrm>
            <a:off x="6279340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Polinomial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AE5252B-20BD-8986-DC23-FB36B68D0ED8}"/>
              </a:ext>
            </a:extLst>
          </p:cNvPr>
          <p:cNvSpPr txBox="1"/>
          <p:nvPr/>
        </p:nvSpPr>
        <p:spPr>
          <a:xfrm>
            <a:off x="129771" y="1460043"/>
            <a:ext cx="284049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Fórmula:</a:t>
            </a:r>
          </a:p>
          <a:p>
            <a:r>
              <a:rPr lang="pt-BR" sz="3600" dirty="0"/>
              <a:t>P = b + m * v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849C137-FB3B-863C-AA7A-CA792C3F3D88}"/>
              </a:ext>
            </a:extLst>
          </p:cNvPr>
          <p:cNvSpPr txBox="1"/>
          <p:nvPr/>
        </p:nvSpPr>
        <p:spPr>
          <a:xfrm>
            <a:off x="92017" y="2414139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Uma única variável exploratória.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E1B6909-BE7E-4BEE-13FA-E5D64C36E789}"/>
              </a:ext>
            </a:extLst>
          </p:cNvPr>
          <p:cNvSpPr txBox="1"/>
          <p:nvPr/>
        </p:nvSpPr>
        <p:spPr>
          <a:xfrm>
            <a:off x="92016" y="3025830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Nenhum.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FE783DC-4D1C-C197-D0B0-CBCBA65F6659}"/>
              </a:ext>
            </a:extLst>
          </p:cNvPr>
          <p:cNvSpPr txBox="1"/>
          <p:nvPr/>
        </p:nvSpPr>
        <p:spPr>
          <a:xfrm>
            <a:off x="62061" y="3659032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135BE59-B65A-2395-D668-0679366D20CC}"/>
              </a:ext>
            </a:extLst>
          </p:cNvPr>
          <p:cNvSpPr txBox="1"/>
          <p:nvPr/>
        </p:nvSpPr>
        <p:spPr>
          <a:xfrm>
            <a:off x="114300" y="3993724"/>
            <a:ext cx="2855962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LinearRegression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4940C93-262B-0148-2E54-13E39538FFFC}"/>
              </a:ext>
            </a:extLst>
          </p:cNvPr>
          <p:cNvSpPr txBox="1"/>
          <p:nvPr/>
        </p:nvSpPr>
        <p:spPr>
          <a:xfrm>
            <a:off x="3147924" y="1460043"/>
            <a:ext cx="28404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Fórmula:</a:t>
            </a:r>
          </a:p>
          <a:p>
            <a:r>
              <a:rPr lang="pt-BR" sz="2000" dirty="0"/>
              <a:t>P = b + m1 * v1 + m2 * v2 + ... + </a:t>
            </a:r>
            <a:r>
              <a:rPr lang="pt-BR" sz="2000" dirty="0" err="1"/>
              <a:t>mn</a:t>
            </a:r>
            <a:r>
              <a:rPr lang="pt-BR" sz="2000" dirty="0"/>
              <a:t> * </a:t>
            </a:r>
            <a:r>
              <a:rPr lang="pt-BR" sz="2000" dirty="0" err="1"/>
              <a:t>vn</a:t>
            </a:r>
            <a:endParaRPr lang="pt-BR" sz="200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A89AF08-D369-F4F1-F5B2-6C1C0CC6B4A4}"/>
              </a:ext>
            </a:extLst>
          </p:cNvPr>
          <p:cNvSpPr txBox="1"/>
          <p:nvPr/>
        </p:nvSpPr>
        <p:spPr>
          <a:xfrm>
            <a:off x="3110170" y="2414139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Duas ou mais variáveis exploratórias.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10F182B-D151-5756-383D-5AB56DF1BFF4}"/>
              </a:ext>
            </a:extLst>
          </p:cNvPr>
          <p:cNvSpPr txBox="1"/>
          <p:nvPr/>
        </p:nvSpPr>
        <p:spPr>
          <a:xfrm>
            <a:off x="3110169" y="3025830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Nenhum.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F0E18BF-8A9F-213E-0118-739068628B6B}"/>
              </a:ext>
            </a:extLst>
          </p:cNvPr>
          <p:cNvSpPr txBox="1"/>
          <p:nvPr/>
        </p:nvSpPr>
        <p:spPr>
          <a:xfrm>
            <a:off x="3080214" y="3659032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B54D75C-8D50-8210-0245-38C52AC560F6}"/>
              </a:ext>
            </a:extLst>
          </p:cNvPr>
          <p:cNvSpPr txBox="1"/>
          <p:nvPr/>
        </p:nvSpPr>
        <p:spPr>
          <a:xfrm>
            <a:off x="3132453" y="3993724"/>
            <a:ext cx="2855962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LinearRegression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50CABBE-4D11-EF22-0C01-D5C23BA45C6F}"/>
              </a:ext>
            </a:extLst>
          </p:cNvPr>
          <p:cNvSpPr txBox="1"/>
          <p:nvPr/>
        </p:nvSpPr>
        <p:spPr>
          <a:xfrm>
            <a:off x="32107" y="5638716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desempenho: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9A686B2-0D93-8C74-E56B-678E9228AB91}"/>
              </a:ext>
            </a:extLst>
          </p:cNvPr>
          <p:cNvSpPr txBox="1"/>
          <p:nvPr/>
        </p:nvSpPr>
        <p:spPr>
          <a:xfrm>
            <a:off x="92016" y="5916887"/>
            <a:ext cx="2855962" cy="5539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regressor.score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/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regressor.score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EB1D764-68DC-B729-BB52-370B60CCC31F}"/>
              </a:ext>
            </a:extLst>
          </p:cNvPr>
          <p:cNvSpPr txBox="1"/>
          <p:nvPr/>
        </p:nvSpPr>
        <p:spPr>
          <a:xfrm>
            <a:off x="3067927" y="5639133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desempenho: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AD470F5-4A3D-F69B-5175-229AD9DFBEA2}"/>
              </a:ext>
            </a:extLst>
          </p:cNvPr>
          <p:cNvSpPr txBox="1"/>
          <p:nvPr/>
        </p:nvSpPr>
        <p:spPr>
          <a:xfrm>
            <a:off x="3127836" y="5917304"/>
            <a:ext cx="2855962" cy="5539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regressor.score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/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regressor.score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005EF36-1868-1C16-D02A-B386834A2250}"/>
              </a:ext>
            </a:extLst>
          </p:cNvPr>
          <p:cNvSpPr txBox="1"/>
          <p:nvPr/>
        </p:nvSpPr>
        <p:spPr>
          <a:xfrm>
            <a:off x="6173747" y="1490809"/>
            <a:ext cx="28404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Fórmula:</a:t>
            </a:r>
          </a:p>
          <a:p>
            <a:r>
              <a:rPr lang="pt-BR" sz="2000" dirty="0"/>
              <a:t>P = C + m1 * v1 + m2 * v1² + ... + </a:t>
            </a:r>
            <a:r>
              <a:rPr lang="pt-BR" sz="2000" dirty="0" err="1"/>
              <a:t>mn</a:t>
            </a:r>
            <a:r>
              <a:rPr lang="pt-BR" sz="2000" dirty="0"/>
              <a:t> * v1^n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E128485-9E3B-87F1-7073-F0E020FE0841}"/>
              </a:ext>
            </a:extLst>
          </p:cNvPr>
          <p:cNvSpPr txBox="1"/>
          <p:nvPr/>
        </p:nvSpPr>
        <p:spPr>
          <a:xfrm>
            <a:off x="6135993" y="2444905"/>
            <a:ext cx="3033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Utilizamos quando a relação com o target não é linear, ou seja, curva.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51763E8-7A22-E59E-DA5D-BC7D5CA31DD7}"/>
              </a:ext>
            </a:extLst>
          </p:cNvPr>
          <p:cNvSpPr txBox="1"/>
          <p:nvPr/>
        </p:nvSpPr>
        <p:spPr>
          <a:xfrm>
            <a:off x="6143921" y="3076973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 err="1"/>
              <a:t>Degree</a:t>
            </a:r>
            <a:r>
              <a:rPr lang="pt-BR" sz="1400" dirty="0"/>
              <a:t> (grau do polinômio)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4F7FC26-599B-2635-7E65-C837ED016310}"/>
              </a:ext>
            </a:extLst>
          </p:cNvPr>
          <p:cNvSpPr txBox="1"/>
          <p:nvPr/>
        </p:nvSpPr>
        <p:spPr>
          <a:xfrm>
            <a:off x="6106037" y="3602833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90E409E-1F5E-2326-F73C-E76FF08034FF}"/>
              </a:ext>
            </a:extLst>
          </p:cNvPr>
          <p:cNvSpPr txBox="1"/>
          <p:nvPr/>
        </p:nvSpPr>
        <p:spPr>
          <a:xfrm>
            <a:off x="6143921" y="3878149"/>
            <a:ext cx="2855962" cy="16312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sklearn.preprocessing</a:t>
            </a:r>
            <a:r>
              <a:rPr lang="en-US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PolynomialFeatures</a:t>
            </a:r>
            <a:endParaRPr lang="en-US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poly = </a:t>
            </a:r>
            <a:r>
              <a:rPr lang="en-US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PolynomialFeatures</a:t>
            </a:r>
            <a:r>
              <a:rPr lang="en-US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(degree = 2)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poly.fit_transform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poly.transform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LinearRegression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DADDCEE-B6CA-3AC8-9B9C-AB1738632395}"/>
              </a:ext>
            </a:extLst>
          </p:cNvPr>
          <p:cNvSpPr txBox="1"/>
          <p:nvPr/>
        </p:nvSpPr>
        <p:spPr>
          <a:xfrm>
            <a:off x="6106037" y="5476554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erro:</a:t>
            </a:r>
          </a:p>
          <a:p>
            <a:r>
              <a:rPr lang="pt-BR" sz="1400" dirty="0"/>
              <a:t>MAE – 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mean_absolute_error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y_test,prev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  <a:endParaRPr lang="pt-BR" sz="1050" dirty="0">
              <a:solidFill>
                <a:schemeClr val="bg2"/>
              </a:solidFill>
              <a:effectLst/>
              <a:highlight>
                <a:srgbClr val="000000"/>
              </a:highlight>
            </a:endParaRPr>
          </a:p>
          <a:p>
            <a:endParaRPr lang="pt-BR" sz="1400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4B97E16-0195-9BB1-A1C9-889F2DC19367}"/>
              </a:ext>
            </a:extLst>
          </p:cNvPr>
          <p:cNvSpPr txBox="1"/>
          <p:nvPr/>
        </p:nvSpPr>
        <p:spPr>
          <a:xfrm>
            <a:off x="6084011" y="5961307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desempenho: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CF6FDEB-5057-6D42-3C9C-215D063FD7D1}"/>
              </a:ext>
            </a:extLst>
          </p:cNvPr>
          <p:cNvSpPr txBox="1"/>
          <p:nvPr/>
        </p:nvSpPr>
        <p:spPr>
          <a:xfrm>
            <a:off x="6143921" y="6299861"/>
            <a:ext cx="2855962" cy="4001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regressor.score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/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regressor.score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10E542B-61D9-319D-10A5-F5A971C11CFF}"/>
              </a:ext>
            </a:extLst>
          </p:cNvPr>
          <p:cNvSpPr txBox="1"/>
          <p:nvPr/>
        </p:nvSpPr>
        <p:spPr>
          <a:xfrm>
            <a:off x="3080213" y="4927016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erro:</a:t>
            </a:r>
          </a:p>
          <a:p>
            <a:r>
              <a:rPr lang="pt-BR" sz="1400" dirty="0"/>
              <a:t>MAE – 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mean_absolute_error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y_test,prev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  <a:endParaRPr lang="pt-BR" sz="1050" dirty="0">
              <a:solidFill>
                <a:schemeClr val="bg2"/>
              </a:solidFill>
              <a:effectLst/>
              <a:highlight>
                <a:srgbClr val="000000"/>
              </a:highlight>
            </a:endParaRPr>
          </a:p>
          <a:p>
            <a:endParaRPr lang="pt-BR" sz="1400" dirty="0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A87C323-3268-177D-7441-925450A9266D}"/>
              </a:ext>
            </a:extLst>
          </p:cNvPr>
          <p:cNvSpPr txBox="1"/>
          <p:nvPr/>
        </p:nvSpPr>
        <p:spPr>
          <a:xfrm>
            <a:off x="57128" y="4916619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erro:</a:t>
            </a:r>
          </a:p>
          <a:p>
            <a:r>
              <a:rPr lang="pt-BR" sz="1400" dirty="0"/>
              <a:t>MAE – 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mean_absolute_error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y_test,prev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  <a:endParaRPr lang="pt-BR" sz="1050" dirty="0">
              <a:solidFill>
                <a:schemeClr val="bg2"/>
              </a:solidFill>
              <a:effectLst/>
              <a:highlight>
                <a:srgbClr val="000000"/>
              </a:highlight>
            </a:endParaRP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21724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D1CA-7B27-83A4-D33B-329D3645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9697EE5-7390-1FF8-B59E-AEB8FE967342}"/>
              </a:ext>
            </a:extLst>
          </p:cNvPr>
          <p:cNvSpPr txBox="1"/>
          <p:nvPr/>
        </p:nvSpPr>
        <p:spPr>
          <a:xfrm>
            <a:off x="402565" y="234408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Classificação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9FAE842-978F-2756-9D26-E6FF3A557EA6}"/>
              </a:ext>
            </a:extLst>
          </p:cNvPr>
          <p:cNvSpPr/>
          <p:nvPr/>
        </p:nvSpPr>
        <p:spPr>
          <a:xfrm>
            <a:off x="92017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AF637B-AC54-F709-D7D3-EBE8795F6DB6}"/>
              </a:ext>
            </a:extLst>
          </p:cNvPr>
          <p:cNvSpPr/>
          <p:nvPr/>
        </p:nvSpPr>
        <p:spPr>
          <a:xfrm>
            <a:off x="3117969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3DEFD69-9B4C-5753-2695-C026328C6949}"/>
              </a:ext>
            </a:extLst>
          </p:cNvPr>
          <p:cNvSpPr/>
          <p:nvPr/>
        </p:nvSpPr>
        <p:spPr>
          <a:xfrm>
            <a:off x="6143921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AB6CA2-3BB9-191A-C840-DA9E1B7C3E10}"/>
              </a:ext>
            </a:extLst>
          </p:cNvPr>
          <p:cNvSpPr/>
          <p:nvPr/>
        </p:nvSpPr>
        <p:spPr>
          <a:xfrm>
            <a:off x="9169873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0CBFAF5-E71F-28BF-C47B-0C1E0A8B2D3C}"/>
              </a:ext>
            </a:extLst>
          </p:cNvPr>
          <p:cNvSpPr txBox="1"/>
          <p:nvPr/>
        </p:nvSpPr>
        <p:spPr>
          <a:xfrm>
            <a:off x="3185678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KNN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AC78AB3-81FA-E255-5518-1E7881098FAB}"/>
              </a:ext>
            </a:extLst>
          </p:cNvPr>
          <p:cNvSpPr txBox="1"/>
          <p:nvPr/>
        </p:nvSpPr>
        <p:spPr>
          <a:xfrm>
            <a:off x="92017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/>
              <a:t>Naive</a:t>
            </a:r>
            <a:r>
              <a:rPr lang="pt-BR" sz="2800" b="1" dirty="0"/>
              <a:t> </a:t>
            </a:r>
            <a:r>
              <a:rPr lang="pt-BR" sz="2800" b="1" dirty="0" err="1"/>
              <a:t>Bayes</a:t>
            </a:r>
            <a:endParaRPr lang="pt-BR" sz="28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4369A4A-FE68-7E23-2E14-DC7BD8B44650}"/>
              </a:ext>
            </a:extLst>
          </p:cNvPr>
          <p:cNvSpPr txBox="1"/>
          <p:nvPr/>
        </p:nvSpPr>
        <p:spPr>
          <a:xfrm>
            <a:off x="6126700" y="843150"/>
            <a:ext cx="2988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Regressão Logística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0F40BCC-1623-4D6C-A8C6-B3E8DAB61E5C}"/>
              </a:ext>
            </a:extLst>
          </p:cNvPr>
          <p:cNvSpPr txBox="1"/>
          <p:nvPr/>
        </p:nvSpPr>
        <p:spPr>
          <a:xfrm>
            <a:off x="9237582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SVM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75BE92D-3694-28E9-72FD-09AE69F4FCCB}"/>
              </a:ext>
            </a:extLst>
          </p:cNvPr>
          <p:cNvSpPr txBox="1"/>
          <p:nvPr/>
        </p:nvSpPr>
        <p:spPr>
          <a:xfrm>
            <a:off x="129771" y="1460043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Fórmula: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2B27519-76E8-C9EB-B689-7385C0053ACB}"/>
              </a:ext>
            </a:extLst>
          </p:cNvPr>
          <p:cNvSpPr txBox="1"/>
          <p:nvPr/>
        </p:nvSpPr>
        <p:spPr>
          <a:xfrm>
            <a:off x="92017" y="2414139"/>
            <a:ext cx="28404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Decora a tabela de probabilidade, não considera a relação entre features.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3DDA3A3-5414-636F-020E-D1EF47B22329}"/>
              </a:ext>
            </a:extLst>
          </p:cNvPr>
          <p:cNvSpPr txBox="1"/>
          <p:nvPr/>
        </p:nvSpPr>
        <p:spPr>
          <a:xfrm>
            <a:off x="69860" y="3243614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Nenhum.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AD27911-F4E4-A225-4BE4-9DAA9E040973}"/>
              </a:ext>
            </a:extLst>
          </p:cNvPr>
          <p:cNvSpPr txBox="1"/>
          <p:nvPr/>
        </p:nvSpPr>
        <p:spPr>
          <a:xfrm>
            <a:off x="62061" y="3659032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CD0D74B-D7B3-B3B8-CC8B-FF171D67E318}"/>
              </a:ext>
            </a:extLst>
          </p:cNvPr>
          <p:cNvSpPr txBox="1"/>
          <p:nvPr/>
        </p:nvSpPr>
        <p:spPr>
          <a:xfrm>
            <a:off x="114300" y="3993724"/>
            <a:ext cx="2855962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naive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GaussianNB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naive.fit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naive.predict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1253B38-FA7E-657B-A8C4-E0269A531C19}"/>
              </a:ext>
            </a:extLst>
          </p:cNvPr>
          <p:cNvSpPr txBox="1"/>
          <p:nvPr/>
        </p:nvSpPr>
        <p:spPr>
          <a:xfrm>
            <a:off x="3125768" y="2214342"/>
            <a:ext cx="28404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Calcula a distância euclidiana dos dados a serem previstos com os existentes e verifica a classe de acordo com os vizinhos mais próximos.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37B4FB1-A64E-2C29-8AC3-301D077D325D}"/>
              </a:ext>
            </a:extLst>
          </p:cNvPr>
          <p:cNvSpPr txBox="1"/>
          <p:nvPr/>
        </p:nvSpPr>
        <p:spPr>
          <a:xfrm>
            <a:off x="3143609" y="3515247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 err="1"/>
              <a:t>n_neighbors</a:t>
            </a:r>
            <a:r>
              <a:rPr lang="pt-BR" sz="1400" dirty="0"/>
              <a:t> (número de vizinhos)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0B178BD-C8E6-942F-4E07-07D8FD6A482D}"/>
              </a:ext>
            </a:extLst>
          </p:cNvPr>
          <p:cNvSpPr txBox="1"/>
          <p:nvPr/>
        </p:nvSpPr>
        <p:spPr>
          <a:xfrm>
            <a:off x="3112679" y="4062555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13ECB4F-D752-FABC-85D2-3E5E2FD8C129}"/>
              </a:ext>
            </a:extLst>
          </p:cNvPr>
          <p:cNvSpPr txBox="1"/>
          <p:nvPr/>
        </p:nvSpPr>
        <p:spPr>
          <a:xfrm>
            <a:off x="3135873" y="4326524"/>
            <a:ext cx="2855962" cy="8617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KNeighborsClassifier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n_neighbors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=10)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19D01BF-A078-5758-E983-C09E4AA38760}"/>
              </a:ext>
            </a:extLst>
          </p:cNvPr>
          <p:cNvSpPr txBox="1"/>
          <p:nvPr/>
        </p:nvSpPr>
        <p:spPr>
          <a:xfrm>
            <a:off x="38662" y="6192139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desempenho: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B311343-2CD3-F204-7245-903952671331}"/>
              </a:ext>
            </a:extLst>
          </p:cNvPr>
          <p:cNvSpPr txBox="1"/>
          <p:nvPr/>
        </p:nvSpPr>
        <p:spPr>
          <a:xfrm>
            <a:off x="92017" y="6450680"/>
            <a:ext cx="2855962" cy="2462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accuracy_score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y_test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prev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B239F14-7922-BB87-B1FA-4C93C2ACECBD}"/>
              </a:ext>
            </a:extLst>
          </p:cNvPr>
          <p:cNvSpPr txBox="1"/>
          <p:nvPr/>
        </p:nvSpPr>
        <p:spPr>
          <a:xfrm>
            <a:off x="6143921" y="2723122"/>
            <a:ext cx="3033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Utiliza função </a:t>
            </a:r>
            <a:r>
              <a:rPr lang="pt-BR" sz="1400" dirty="0" err="1"/>
              <a:t>sigmoid</a:t>
            </a:r>
            <a:r>
              <a:rPr lang="pt-BR" sz="1400" dirty="0"/>
              <a:t> para encontrar a melhor linha e encaixar os dados.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EF6024A-B656-4CEC-AA0F-5B5EC04E8B33}"/>
              </a:ext>
            </a:extLst>
          </p:cNvPr>
          <p:cNvSpPr txBox="1"/>
          <p:nvPr/>
        </p:nvSpPr>
        <p:spPr>
          <a:xfrm>
            <a:off x="6126700" y="3569285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 err="1"/>
              <a:t>max_iter</a:t>
            </a:r>
            <a:r>
              <a:rPr lang="pt-BR" sz="1400" dirty="0"/>
              <a:t> (Número máximo de iterações)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14923A6-BD84-5975-E58B-480DA11160D7}"/>
              </a:ext>
            </a:extLst>
          </p:cNvPr>
          <p:cNvSpPr txBox="1"/>
          <p:nvPr/>
        </p:nvSpPr>
        <p:spPr>
          <a:xfrm>
            <a:off x="6143921" y="4247138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0CFBBC5-F5CC-AA3F-FF02-FA468379A19D}"/>
              </a:ext>
            </a:extLst>
          </p:cNvPr>
          <p:cNvSpPr txBox="1"/>
          <p:nvPr/>
        </p:nvSpPr>
        <p:spPr>
          <a:xfrm>
            <a:off x="38661" y="4763142"/>
            <a:ext cx="28404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erro:</a:t>
            </a:r>
          </a:p>
          <a:p>
            <a:r>
              <a:rPr lang="pt-BR" sz="1400" dirty="0"/>
              <a:t>Matriz Confusão –  </a:t>
            </a:r>
          </a:p>
          <a:p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cm =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ConfusionMatrix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naive_census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  <a:p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cm.fit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X_train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y_train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  <a:p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cm.score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X_test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y_test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  <a:p>
            <a:endParaRPr lang="es-ES" sz="1050" dirty="0">
              <a:solidFill>
                <a:schemeClr val="bg2"/>
              </a:solidFill>
              <a:highlight>
                <a:srgbClr val="000000"/>
              </a:highlight>
            </a:endParaRPr>
          </a:p>
          <a:p>
            <a:endParaRPr lang="pt-BR" sz="1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D916BD-EDCA-3369-D660-048AAB78D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80" y="1263133"/>
            <a:ext cx="1907972" cy="12383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834999E-2EFF-C32A-22B2-D86D0790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72"/>
          <a:stretch/>
        </p:blipFill>
        <p:spPr>
          <a:xfrm>
            <a:off x="4138327" y="835382"/>
            <a:ext cx="1727634" cy="124842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AE05F35-BE2A-6E5E-5F14-FA99F2EBD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684" y="1829271"/>
            <a:ext cx="1958197" cy="463906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38593103-792D-723D-9F17-F96EC492920A}"/>
              </a:ext>
            </a:extLst>
          </p:cNvPr>
          <p:cNvSpPr txBox="1"/>
          <p:nvPr/>
        </p:nvSpPr>
        <p:spPr>
          <a:xfrm>
            <a:off x="3064615" y="6176630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desempenho: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2EB0A4-9937-3CB8-F3D8-1DD2AECBA143}"/>
              </a:ext>
            </a:extLst>
          </p:cNvPr>
          <p:cNvSpPr txBox="1"/>
          <p:nvPr/>
        </p:nvSpPr>
        <p:spPr>
          <a:xfrm>
            <a:off x="3117970" y="6435171"/>
            <a:ext cx="2855962" cy="2462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accuracy_score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y_test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prev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2FBA057-BEB5-10CB-E890-90E77C1329FD}"/>
              </a:ext>
            </a:extLst>
          </p:cNvPr>
          <p:cNvSpPr txBox="1"/>
          <p:nvPr/>
        </p:nvSpPr>
        <p:spPr>
          <a:xfrm>
            <a:off x="6087323" y="5255155"/>
            <a:ext cx="2840491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erro:</a:t>
            </a:r>
          </a:p>
          <a:p>
            <a:r>
              <a:rPr lang="pt-BR" sz="1400" dirty="0"/>
              <a:t>Matriz Confusão –  </a:t>
            </a:r>
          </a:p>
          <a:p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cm =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ConfusionMatrix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(log)</a:t>
            </a:r>
          </a:p>
          <a:p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cm.fit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X_train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y_train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  <a:p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cm.score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X_test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y_test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  <a:endParaRPr lang="pt-BR" sz="1400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A5AE4C75-56E0-674E-0DEA-D1935B050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400" y="1269021"/>
            <a:ext cx="2579114" cy="1543190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1BA77A-2DCC-D278-0BDC-B9B64154F99A}"/>
              </a:ext>
            </a:extLst>
          </p:cNvPr>
          <p:cNvSpPr txBox="1"/>
          <p:nvPr/>
        </p:nvSpPr>
        <p:spPr>
          <a:xfrm>
            <a:off x="6143921" y="4557658"/>
            <a:ext cx="2855962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LogisticRegression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max_iter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=100)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 = 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851EA064-E1DD-B6DD-CD02-015879298C91}"/>
              </a:ext>
            </a:extLst>
          </p:cNvPr>
          <p:cNvSpPr txBox="1"/>
          <p:nvPr/>
        </p:nvSpPr>
        <p:spPr>
          <a:xfrm>
            <a:off x="6077829" y="6165092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desempenho: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E916855-48C9-BD7C-24EA-1CF031EB5375}"/>
              </a:ext>
            </a:extLst>
          </p:cNvPr>
          <p:cNvSpPr txBox="1"/>
          <p:nvPr/>
        </p:nvSpPr>
        <p:spPr>
          <a:xfrm>
            <a:off x="6148615" y="6437859"/>
            <a:ext cx="2855962" cy="2462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accuracy_score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y_test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prev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893AD66C-7715-105C-2F1E-55EA8D25A04A}"/>
              </a:ext>
            </a:extLst>
          </p:cNvPr>
          <p:cNvSpPr txBox="1"/>
          <p:nvPr/>
        </p:nvSpPr>
        <p:spPr>
          <a:xfrm>
            <a:off x="3129046" y="5255155"/>
            <a:ext cx="2840491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erro:</a:t>
            </a:r>
          </a:p>
          <a:p>
            <a:r>
              <a:rPr lang="pt-BR" sz="1400" dirty="0"/>
              <a:t>Matriz Confusão –  </a:t>
            </a:r>
          </a:p>
          <a:p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cm =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ConfusionMatrix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knn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  <a:p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cm.fit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X_train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y_train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  <a:p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cm.score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X_test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y_test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  <a:endParaRPr lang="pt-BR" sz="1400" dirty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A5A7A8C-8D0D-03D0-5FEE-DAB58253B16B}"/>
              </a:ext>
            </a:extLst>
          </p:cNvPr>
          <p:cNvSpPr txBox="1"/>
          <p:nvPr/>
        </p:nvSpPr>
        <p:spPr>
          <a:xfrm>
            <a:off x="9169873" y="2732439"/>
            <a:ext cx="291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Cria um hiperplano com base nos vetores de suporte para dividir as classes.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7385C4-FFA7-EFAE-6E2D-6EB7CAAD0C63}"/>
              </a:ext>
            </a:extLst>
          </p:cNvPr>
          <p:cNvSpPr txBox="1"/>
          <p:nvPr/>
        </p:nvSpPr>
        <p:spPr>
          <a:xfrm>
            <a:off x="9152652" y="3578602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Kernel (Transformação dos dados)</a:t>
            </a:r>
          </a:p>
          <a:p>
            <a:r>
              <a:rPr lang="pt-BR" sz="1400" dirty="0"/>
              <a:t>C (Penalização dos erros)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6611670D-F4F4-764E-09EF-5D4688ACA300}"/>
              </a:ext>
            </a:extLst>
          </p:cNvPr>
          <p:cNvSpPr txBox="1"/>
          <p:nvPr/>
        </p:nvSpPr>
        <p:spPr>
          <a:xfrm>
            <a:off x="9169873" y="4256455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D66CB43-9F31-CFC0-7078-AD93E87707A4}"/>
              </a:ext>
            </a:extLst>
          </p:cNvPr>
          <p:cNvSpPr txBox="1"/>
          <p:nvPr/>
        </p:nvSpPr>
        <p:spPr>
          <a:xfrm>
            <a:off x="9113275" y="5264472"/>
            <a:ext cx="2840491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erro:</a:t>
            </a:r>
          </a:p>
          <a:p>
            <a:r>
              <a:rPr lang="pt-BR" sz="1400" dirty="0"/>
              <a:t>Matriz Confusão –  </a:t>
            </a:r>
          </a:p>
          <a:p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cm =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ConfusionMatrix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svm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  <a:p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cm.fit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X_train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y_train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  <a:p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cm.score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X_test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50" dirty="0" err="1">
                <a:solidFill>
                  <a:schemeClr val="bg2"/>
                </a:solidFill>
                <a:highlight>
                  <a:srgbClr val="000000"/>
                </a:highlight>
              </a:rPr>
              <a:t>y_test</a:t>
            </a:r>
            <a:r>
              <a:rPr lang="es-ES" sz="105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  <a:endParaRPr lang="pt-BR" sz="1400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732F8E9B-7931-3BB7-BE75-ABA81E215E6E}"/>
              </a:ext>
            </a:extLst>
          </p:cNvPr>
          <p:cNvSpPr txBox="1"/>
          <p:nvPr/>
        </p:nvSpPr>
        <p:spPr>
          <a:xfrm>
            <a:off x="9169873" y="4566975"/>
            <a:ext cx="2855962" cy="5539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svm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SVC(kernel=‘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rbf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’,C=2)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svm.fit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svm.predict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D8C83D4F-894A-D462-BF57-3B246968DDA6}"/>
              </a:ext>
            </a:extLst>
          </p:cNvPr>
          <p:cNvSpPr txBox="1"/>
          <p:nvPr/>
        </p:nvSpPr>
        <p:spPr>
          <a:xfrm>
            <a:off x="9103781" y="6174409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Métricas de desempenho: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1306552-E1C6-8988-0052-8548400CD054}"/>
              </a:ext>
            </a:extLst>
          </p:cNvPr>
          <p:cNvSpPr txBox="1"/>
          <p:nvPr/>
        </p:nvSpPr>
        <p:spPr>
          <a:xfrm>
            <a:off x="9174567" y="6447176"/>
            <a:ext cx="2855962" cy="2462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accuracy_score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(</a:t>
            </a:r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y_test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, </a:t>
            </a:r>
            <a:r>
              <a:rPr lang="es-ES" sz="1000" dirty="0" err="1">
                <a:solidFill>
                  <a:schemeClr val="bg2"/>
                </a:solidFill>
                <a:highlight>
                  <a:srgbClr val="000000"/>
                </a:highlight>
              </a:rPr>
              <a:t>prev</a:t>
            </a:r>
            <a:r>
              <a:rPr lang="es-ES" sz="1000" dirty="0">
                <a:solidFill>
                  <a:schemeClr val="bg2"/>
                </a:solidFill>
                <a:highlight>
                  <a:srgbClr val="000000"/>
                </a:highlight>
              </a:rPr>
              <a:t>)</a:t>
            </a:r>
          </a:p>
        </p:txBody>
      </p:sp>
      <p:pic>
        <p:nvPicPr>
          <p:cNvPr id="58" name="Imagem 57">
            <a:extLst>
              <a:ext uri="{FF2B5EF4-FFF2-40B4-BE49-F238E27FC236}">
                <a16:creationId xmlns:a16="http://schemas.microsoft.com/office/drawing/2014/main" id="{E070A7A3-8328-3A2E-7897-07BE1591A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3894" y="917421"/>
            <a:ext cx="2028124" cy="172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52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1D130-0C92-B8EB-8FAE-D04900E7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6162DAE-340F-8FB2-930E-E9B97D75F071}"/>
              </a:ext>
            </a:extLst>
          </p:cNvPr>
          <p:cNvSpPr txBox="1"/>
          <p:nvPr/>
        </p:nvSpPr>
        <p:spPr>
          <a:xfrm>
            <a:off x="402565" y="234408"/>
            <a:ext cx="5049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Regressão e Classificação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5D5ED-5392-D39F-4D50-55F8EB29F057}"/>
              </a:ext>
            </a:extLst>
          </p:cNvPr>
          <p:cNvSpPr/>
          <p:nvPr/>
        </p:nvSpPr>
        <p:spPr>
          <a:xfrm>
            <a:off x="92017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9D4FF2C-9943-3E83-B0C9-9C0A389187AC}"/>
              </a:ext>
            </a:extLst>
          </p:cNvPr>
          <p:cNvSpPr/>
          <p:nvPr/>
        </p:nvSpPr>
        <p:spPr>
          <a:xfrm>
            <a:off x="3117969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565676-A81D-749A-28EC-A76F04681AC5}"/>
              </a:ext>
            </a:extLst>
          </p:cNvPr>
          <p:cNvSpPr txBox="1"/>
          <p:nvPr/>
        </p:nvSpPr>
        <p:spPr>
          <a:xfrm>
            <a:off x="3185678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Random Forest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D350AD5-DDED-7835-FE16-04236356C7F7}"/>
              </a:ext>
            </a:extLst>
          </p:cNvPr>
          <p:cNvSpPr txBox="1"/>
          <p:nvPr/>
        </p:nvSpPr>
        <p:spPr>
          <a:xfrm>
            <a:off x="92017" y="835382"/>
            <a:ext cx="2855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Árvore de Decisão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826A1A0-1940-907F-6915-0E3C5EF01EE5}"/>
              </a:ext>
            </a:extLst>
          </p:cNvPr>
          <p:cNvSpPr txBox="1"/>
          <p:nvPr/>
        </p:nvSpPr>
        <p:spPr>
          <a:xfrm>
            <a:off x="92017" y="2414139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Uma única variável exploratória.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9CB62AB-4CD8-0EFE-A06D-C7865393B2ED}"/>
              </a:ext>
            </a:extLst>
          </p:cNvPr>
          <p:cNvSpPr txBox="1"/>
          <p:nvPr/>
        </p:nvSpPr>
        <p:spPr>
          <a:xfrm>
            <a:off x="92016" y="3025830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Nenhum.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3E69801-BBFD-AEBD-277C-AF1757482D20}"/>
              </a:ext>
            </a:extLst>
          </p:cNvPr>
          <p:cNvSpPr txBox="1"/>
          <p:nvPr/>
        </p:nvSpPr>
        <p:spPr>
          <a:xfrm>
            <a:off x="62061" y="3659032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EDC4521-E9A7-E771-4970-687E2F5710B6}"/>
              </a:ext>
            </a:extLst>
          </p:cNvPr>
          <p:cNvSpPr txBox="1"/>
          <p:nvPr/>
        </p:nvSpPr>
        <p:spPr>
          <a:xfrm>
            <a:off x="114300" y="3993724"/>
            <a:ext cx="2855962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DecisionTreeRegressor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tree.predict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2073F2D-94F2-4BCB-A514-FE05E8A99FBE}"/>
              </a:ext>
            </a:extLst>
          </p:cNvPr>
          <p:cNvSpPr txBox="1"/>
          <p:nvPr/>
        </p:nvSpPr>
        <p:spPr>
          <a:xfrm>
            <a:off x="3110170" y="2414139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Consulta muitas árvores e tira a média.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BF6B9B9-CEBB-808A-2F09-FB2099C260DD}"/>
              </a:ext>
            </a:extLst>
          </p:cNvPr>
          <p:cNvSpPr txBox="1"/>
          <p:nvPr/>
        </p:nvSpPr>
        <p:spPr>
          <a:xfrm>
            <a:off x="3110169" y="3025830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 err="1"/>
              <a:t>n_estimators</a:t>
            </a:r>
            <a:r>
              <a:rPr lang="pt-BR" sz="1400" dirty="0"/>
              <a:t> (número de consultas)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3509799-3E80-D976-844C-3CB70A02D329}"/>
              </a:ext>
            </a:extLst>
          </p:cNvPr>
          <p:cNvSpPr txBox="1"/>
          <p:nvPr/>
        </p:nvSpPr>
        <p:spPr>
          <a:xfrm>
            <a:off x="3080214" y="3659032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53752DD-8677-B1D9-803B-84E543BB59EC}"/>
              </a:ext>
            </a:extLst>
          </p:cNvPr>
          <p:cNvSpPr txBox="1"/>
          <p:nvPr/>
        </p:nvSpPr>
        <p:spPr>
          <a:xfrm>
            <a:off x="3132453" y="3993724"/>
            <a:ext cx="2901516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RandomForestRegressor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n_estimators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=100)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X_random.predict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CD9D04-E308-53D1-DA1C-47F28343A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3" y="1190034"/>
            <a:ext cx="2575805" cy="129002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47A4CB4-2C76-CCDE-60DC-07B706665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153" y="1526741"/>
            <a:ext cx="2855962" cy="73203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9DCCD62-92BD-9354-20DD-31E5C9FA0FCA}"/>
              </a:ext>
            </a:extLst>
          </p:cNvPr>
          <p:cNvSpPr txBox="1"/>
          <p:nvPr/>
        </p:nvSpPr>
        <p:spPr>
          <a:xfrm>
            <a:off x="6808399" y="3654682"/>
            <a:ext cx="4863141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pt-BR"/>
            </a:defPPr>
            <a:lvl1pPr marL="180340" marR="180340">
              <a:buNone/>
              <a:defRPr sz="1000" kern="60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r>
              <a:rPr lang="pt-BR" sz="1600" dirty="0" err="1"/>
              <a:t>DecisionTreeRegressor</a:t>
            </a:r>
            <a:r>
              <a:rPr lang="pt-BR" sz="1600" dirty="0"/>
              <a:t>()</a:t>
            </a:r>
          </a:p>
          <a:p>
            <a:r>
              <a:rPr lang="pt-BR" sz="1600" dirty="0" err="1"/>
              <a:t>DecisionTreeClassifier</a:t>
            </a:r>
            <a:r>
              <a:rPr lang="pt-BR" sz="1600" dirty="0"/>
              <a:t>()</a:t>
            </a:r>
          </a:p>
          <a:p>
            <a:endParaRPr lang="pt-BR" sz="1600" dirty="0"/>
          </a:p>
          <a:p>
            <a:endParaRPr lang="pt-BR" sz="1600" dirty="0"/>
          </a:p>
          <a:p>
            <a:r>
              <a:rPr lang="pt-BR" sz="1600" dirty="0" err="1"/>
              <a:t>RandomForestRegressor</a:t>
            </a:r>
            <a:r>
              <a:rPr lang="pt-BR" sz="1600" dirty="0"/>
              <a:t>()</a:t>
            </a:r>
          </a:p>
          <a:p>
            <a:r>
              <a:rPr lang="pt-BR" sz="1600" dirty="0" err="1"/>
              <a:t>RandomForestClassifier</a:t>
            </a:r>
            <a:r>
              <a:rPr lang="pt-BR" sz="1600" dirty="0"/>
              <a:t>()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7930889A-A120-5E6C-86C9-B979CD81DBE1}"/>
              </a:ext>
            </a:extLst>
          </p:cNvPr>
          <p:cNvCxnSpPr>
            <a:cxnSpLocks/>
          </p:cNvCxnSpPr>
          <p:nvPr/>
        </p:nvCxnSpPr>
        <p:spPr>
          <a:xfrm>
            <a:off x="6096000" y="4347667"/>
            <a:ext cx="56934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39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BABB-A2A4-CD56-1053-F451B6A16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C4141BF-FE08-5E53-1A62-155313D24C88}"/>
              </a:ext>
            </a:extLst>
          </p:cNvPr>
          <p:cNvSpPr txBox="1"/>
          <p:nvPr/>
        </p:nvSpPr>
        <p:spPr>
          <a:xfrm>
            <a:off x="402565" y="234408"/>
            <a:ext cx="5049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/>
              <a:t>Encoder</a:t>
            </a:r>
            <a:endParaRPr lang="pt-BR" sz="2800" b="1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47BEC70-839A-170A-B54B-E0CE785CA212}"/>
              </a:ext>
            </a:extLst>
          </p:cNvPr>
          <p:cNvSpPr/>
          <p:nvPr/>
        </p:nvSpPr>
        <p:spPr>
          <a:xfrm>
            <a:off x="92017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5BF450B-385D-9CDE-B0F3-8EA19B4A342D}"/>
              </a:ext>
            </a:extLst>
          </p:cNvPr>
          <p:cNvSpPr/>
          <p:nvPr/>
        </p:nvSpPr>
        <p:spPr>
          <a:xfrm>
            <a:off x="3117969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F7DC05-3578-A23A-88C1-8C6A459DDE1F}"/>
              </a:ext>
            </a:extLst>
          </p:cNvPr>
          <p:cNvSpPr txBox="1"/>
          <p:nvPr/>
        </p:nvSpPr>
        <p:spPr>
          <a:xfrm>
            <a:off x="3185678" y="835382"/>
            <a:ext cx="2958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One</a:t>
            </a:r>
            <a:r>
              <a:rPr lang="pt-BR" sz="2400" b="1" dirty="0"/>
              <a:t>-Hot </a:t>
            </a:r>
            <a:r>
              <a:rPr lang="pt-BR" sz="2400" b="1" dirty="0" err="1"/>
              <a:t>Encoding</a:t>
            </a:r>
            <a:endParaRPr lang="pt-BR" sz="2400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24FEFD-21A1-CC33-BD4B-5EC258C57E73}"/>
              </a:ext>
            </a:extLst>
          </p:cNvPr>
          <p:cNvSpPr txBox="1"/>
          <p:nvPr/>
        </p:nvSpPr>
        <p:spPr>
          <a:xfrm>
            <a:off x="92017" y="835382"/>
            <a:ext cx="2855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Label</a:t>
            </a:r>
            <a:r>
              <a:rPr lang="pt-BR" sz="2400" b="1" dirty="0"/>
              <a:t> </a:t>
            </a:r>
            <a:r>
              <a:rPr lang="pt-BR" sz="2400" b="1" dirty="0" err="1"/>
              <a:t>Encoding</a:t>
            </a:r>
            <a:endParaRPr lang="pt-BR" sz="2400" b="1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1AE7B04-BD55-0759-1917-67633416E35D}"/>
              </a:ext>
            </a:extLst>
          </p:cNvPr>
          <p:cNvSpPr txBox="1"/>
          <p:nvPr/>
        </p:nvSpPr>
        <p:spPr>
          <a:xfrm>
            <a:off x="98159" y="2873519"/>
            <a:ext cx="28404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Cada classe terá seu rótulo transformado para um valor numérico.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1E7AD97-3D4F-EB20-8931-48EC000A9160}"/>
              </a:ext>
            </a:extLst>
          </p:cNvPr>
          <p:cNvSpPr txBox="1"/>
          <p:nvPr/>
        </p:nvSpPr>
        <p:spPr>
          <a:xfrm>
            <a:off x="105958" y="3797099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08B5FC0-996C-E7A7-CC42-05748355CD9D}"/>
              </a:ext>
            </a:extLst>
          </p:cNvPr>
          <p:cNvSpPr txBox="1"/>
          <p:nvPr/>
        </p:nvSpPr>
        <p:spPr>
          <a:xfrm>
            <a:off x="3117969" y="2655383"/>
            <a:ext cx="28404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Cada categoria é transformada em outro atributo: um valor binário informa a ocorrência.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B5A4AF5-7A2A-6017-2997-9DD2BF8653E1}"/>
              </a:ext>
            </a:extLst>
          </p:cNvPr>
          <p:cNvSpPr txBox="1"/>
          <p:nvPr/>
        </p:nvSpPr>
        <p:spPr>
          <a:xfrm>
            <a:off x="3117969" y="3783495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2077D2-2CE3-16D6-F48C-9ED97450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2" y="1269833"/>
            <a:ext cx="2768926" cy="15877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A2C069B-DF50-69C0-9ACB-F12A6955B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071" y="1368182"/>
            <a:ext cx="2840491" cy="12872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93BAB09-4D56-2335-5170-945354C74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169" y="2387097"/>
            <a:ext cx="4573227" cy="1704175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9683EA65-0B1B-A33A-4D8C-B5997350D48B}"/>
              </a:ext>
            </a:extLst>
          </p:cNvPr>
          <p:cNvSpPr txBox="1"/>
          <p:nvPr/>
        </p:nvSpPr>
        <p:spPr>
          <a:xfrm>
            <a:off x="105957" y="4203341"/>
            <a:ext cx="2915999" cy="8617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encoder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LabelEncoder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X[:,1]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encoder.fit_transform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(X[:,1])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40A8A25-E13E-D451-CDFC-96CE43B54EE6}"/>
              </a:ext>
            </a:extLst>
          </p:cNvPr>
          <p:cNvSpPr txBox="1"/>
          <p:nvPr/>
        </p:nvSpPr>
        <p:spPr>
          <a:xfrm>
            <a:off x="3102497" y="4183594"/>
            <a:ext cx="2931471" cy="11695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onehot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 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ColumnTransformer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transformers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=[('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OneHot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', 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OneHotEncoder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(), [c1,c2,c3])], 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remainder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='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passthrough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’)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fr-F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X= </a:t>
            </a:r>
            <a:r>
              <a:rPr lang="fr-F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onehot.fit_transform</a:t>
            </a:r>
            <a:r>
              <a:rPr lang="fr-F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(X)</a:t>
            </a: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105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D343-E190-54F7-1E45-84247FB0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00F0AA0-D0F3-7054-6031-DB646351B7E3}"/>
              </a:ext>
            </a:extLst>
          </p:cNvPr>
          <p:cNvSpPr txBox="1"/>
          <p:nvPr/>
        </p:nvSpPr>
        <p:spPr>
          <a:xfrm>
            <a:off x="402565" y="234408"/>
            <a:ext cx="5693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Padronização - </a:t>
            </a:r>
            <a:r>
              <a:rPr lang="pt-BR" sz="2800" b="1" dirty="0" err="1"/>
              <a:t>StandardScaler</a:t>
            </a:r>
            <a:endParaRPr lang="pt-BR" sz="2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CE3333C-11C0-F854-1CFB-EC1F98A200E4}"/>
              </a:ext>
            </a:extLst>
          </p:cNvPr>
          <p:cNvSpPr txBox="1"/>
          <p:nvPr/>
        </p:nvSpPr>
        <p:spPr>
          <a:xfrm>
            <a:off x="704353" y="5770855"/>
            <a:ext cx="6403812" cy="6463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2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scaler</a:t>
            </a:r>
            <a:r>
              <a:rPr lang="pt-BR" sz="12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2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StandardScaler</a:t>
            </a:r>
            <a:r>
              <a:rPr lang="pt-BR" sz="12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pt-BR" sz="12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X_treinamento</a:t>
            </a:r>
            <a:r>
              <a:rPr lang="pt-BR" sz="12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2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scaler.fit_transform</a:t>
            </a:r>
            <a:r>
              <a:rPr lang="pt-BR" sz="12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2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X_treinamento</a:t>
            </a:r>
            <a:r>
              <a:rPr lang="pt-BR" sz="12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2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X_teste</a:t>
            </a:r>
            <a:r>
              <a:rPr lang="pt-BR" sz="12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2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scaler.transform</a:t>
            </a:r>
            <a:r>
              <a:rPr lang="pt-BR" sz="12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2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X_teste</a:t>
            </a:r>
            <a:r>
              <a:rPr lang="pt-BR" sz="12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DBB534-B68D-6563-12DA-40AEB2110FC1}"/>
              </a:ext>
            </a:extLst>
          </p:cNvPr>
          <p:cNvSpPr txBox="1"/>
          <p:nvPr/>
        </p:nvSpPr>
        <p:spPr>
          <a:xfrm>
            <a:off x="614916" y="5375734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61746E-C506-B1E7-0469-4585249605FC}"/>
              </a:ext>
            </a:extLst>
          </p:cNvPr>
          <p:cNvSpPr txBox="1"/>
          <p:nvPr/>
        </p:nvSpPr>
        <p:spPr>
          <a:xfrm>
            <a:off x="402565" y="1363992"/>
            <a:ext cx="92709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O </a:t>
            </a:r>
            <a:r>
              <a:rPr lang="pt-BR" sz="1400" dirty="0" err="1"/>
              <a:t>StandardScaler</a:t>
            </a:r>
            <a:r>
              <a:rPr lang="pt-BR" sz="1400" dirty="0"/>
              <a:t> é como um "tradutor de escalas" que diz para o computador:</a:t>
            </a:r>
          </a:p>
          <a:p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Achar o Ponto Médio (Média);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Centralizar no Zero;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Ajustar a "Esticada" (Desvio Padrão);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C96D27E-E968-8FCE-84F5-7AFB3D03E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65" y="2830966"/>
            <a:ext cx="3991532" cy="221963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3638735-DB90-D97D-E048-32DB58E20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307" y="2893670"/>
            <a:ext cx="5382376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0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0699-ED90-DB6C-FB8A-C4997C01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A2A7A90-145C-97CE-22ED-F9618E601414}"/>
              </a:ext>
            </a:extLst>
          </p:cNvPr>
          <p:cNvSpPr txBox="1"/>
          <p:nvPr/>
        </p:nvSpPr>
        <p:spPr>
          <a:xfrm>
            <a:off x="402565" y="234408"/>
            <a:ext cx="5049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/>
              <a:t>Encoder</a:t>
            </a:r>
            <a:endParaRPr lang="pt-BR" sz="2800" b="1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825FEF-9648-6DCF-4219-B536687DB400}"/>
              </a:ext>
            </a:extLst>
          </p:cNvPr>
          <p:cNvSpPr/>
          <p:nvPr/>
        </p:nvSpPr>
        <p:spPr>
          <a:xfrm>
            <a:off x="92017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A44BC3B-318E-60FA-1A8C-7512DA0B96CB}"/>
              </a:ext>
            </a:extLst>
          </p:cNvPr>
          <p:cNvSpPr/>
          <p:nvPr/>
        </p:nvSpPr>
        <p:spPr>
          <a:xfrm>
            <a:off x="3117969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C52F18C-BF61-4CBF-4842-9F6E63BD0632}"/>
              </a:ext>
            </a:extLst>
          </p:cNvPr>
          <p:cNvSpPr txBox="1"/>
          <p:nvPr/>
        </p:nvSpPr>
        <p:spPr>
          <a:xfrm>
            <a:off x="3185678" y="835382"/>
            <a:ext cx="2958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One</a:t>
            </a:r>
            <a:r>
              <a:rPr lang="pt-BR" sz="2400" b="1" dirty="0"/>
              <a:t>-Hot </a:t>
            </a:r>
            <a:r>
              <a:rPr lang="pt-BR" sz="2400" b="1" dirty="0" err="1"/>
              <a:t>Encoding</a:t>
            </a:r>
            <a:endParaRPr lang="pt-BR" sz="2400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8AE6E50-C484-F657-1E2E-DEA8FB880CB0}"/>
              </a:ext>
            </a:extLst>
          </p:cNvPr>
          <p:cNvSpPr txBox="1"/>
          <p:nvPr/>
        </p:nvSpPr>
        <p:spPr>
          <a:xfrm>
            <a:off x="92017" y="835382"/>
            <a:ext cx="2855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Label</a:t>
            </a:r>
            <a:r>
              <a:rPr lang="pt-BR" sz="2400" b="1" dirty="0"/>
              <a:t> </a:t>
            </a:r>
            <a:r>
              <a:rPr lang="pt-BR" sz="2400" b="1" dirty="0" err="1"/>
              <a:t>Encoding</a:t>
            </a:r>
            <a:endParaRPr lang="pt-BR" sz="2400" b="1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C93A81E-8969-3FA4-83B0-44A022124042}"/>
              </a:ext>
            </a:extLst>
          </p:cNvPr>
          <p:cNvSpPr txBox="1"/>
          <p:nvPr/>
        </p:nvSpPr>
        <p:spPr>
          <a:xfrm>
            <a:off x="98159" y="2873519"/>
            <a:ext cx="28404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Cada classe terá seu rótulo transformado para um valor numérico.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D6F1C36-B366-D8D8-943A-F997E35AC70C}"/>
              </a:ext>
            </a:extLst>
          </p:cNvPr>
          <p:cNvSpPr txBox="1"/>
          <p:nvPr/>
        </p:nvSpPr>
        <p:spPr>
          <a:xfrm>
            <a:off x="105958" y="3797099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8C5421B-B65D-96E3-7486-C9774D4CF581}"/>
              </a:ext>
            </a:extLst>
          </p:cNvPr>
          <p:cNvSpPr txBox="1"/>
          <p:nvPr/>
        </p:nvSpPr>
        <p:spPr>
          <a:xfrm>
            <a:off x="3117969" y="2655383"/>
            <a:ext cx="28404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Cada categoria é transformada em outro atributo: um valor binário informa a ocorrência.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376875B-6132-1142-6893-CA028C1F1325}"/>
              </a:ext>
            </a:extLst>
          </p:cNvPr>
          <p:cNvSpPr txBox="1"/>
          <p:nvPr/>
        </p:nvSpPr>
        <p:spPr>
          <a:xfrm>
            <a:off x="3117969" y="3783495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CE267A1-4DC5-0ABD-71A4-DCD2755E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2" y="1269833"/>
            <a:ext cx="2768926" cy="15877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E45A7CF-CFA1-11B0-D2A8-F9918674B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071" y="1368182"/>
            <a:ext cx="2840491" cy="12872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5783507-9812-E5DE-2138-625F95BA5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169" y="2387097"/>
            <a:ext cx="4573227" cy="1704175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55C9F998-AA3F-7CF2-6584-1B2E5F2E8F49}"/>
              </a:ext>
            </a:extLst>
          </p:cNvPr>
          <p:cNvSpPr txBox="1"/>
          <p:nvPr/>
        </p:nvSpPr>
        <p:spPr>
          <a:xfrm>
            <a:off x="105957" y="4203341"/>
            <a:ext cx="2915999" cy="8617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encoder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LabelEncoder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X[:,1]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encoder.fit_transform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(X[:,1])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D479C84-C617-296B-B61A-ABB6AB70FEAF}"/>
              </a:ext>
            </a:extLst>
          </p:cNvPr>
          <p:cNvSpPr txBox="1"/>
          <p:nvPr/>
        </p:nvSpPr>
        <p:spPr>
          <a:xfrm>
            <a:off x="3102497" y="4183594"/>
            <a:ext cx="2931471" cy="11695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onehot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 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ColumnTransformer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transformers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=[('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OneHot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', 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OneHotEncoder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(), [c1,c2,c3])], 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remainder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='</a:t>
            </a:r>
            <a:r>
              <a:rPr lang="pt-BR" sz="1000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passthrough</a:t>
            </a:r>
            <a:r>
              <a:rPr lang="pt-BR" sz="1000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’)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fr-F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X= </a:t>
            </a:r>
            <a:r>
              <a:rPr lang="fr-F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onehot.fit_transform</a:t>
            </a:r>
            <a:r>
              <a:rPr lang="fr-F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(X)</a:t>
            </a: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30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C2AA-A025-F5BC-BD01-30C3777C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0077F92-1949-2874-731A-194C4070F604}"/>
              </a:ext>
            </a:extLst>
          </p:cNvPr>
          <p:cNvSpPr/>
          <p:nvPr/>
        </p:nvSpPr>
        <p:spPr>
          <a:xfrm>
            <a:off x="92017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815812-FA25-8542-631B-8C94E4931244}"/>
              </a:ext>
            </a:extLst>
          </p:cNvPr>
          <p:cNvSpPr/>
          <p:nvPr/>
        </p:nvSpPr>
        <p:spPr>
          <a:xfrm>
            <a:off x="3117969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EADAA0-02D9-356A-DF29-E1196618187C}"/>
              </a:ext>
            </a:extLst>
          </p:cNvPr>
          <p:cNvSpPr/>
          <p:nvPr/>
        </p:nvSpPr>
        <p:spPr>
          <a:xfrm>
            <a:off x="6143921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98E67C5-F437-E39E-3809-A79632E944A1}"/>
              </a:ext>
            </a:extLst>
          </p:cNvPr>
          <p:cNvSpPr/>
          <p:nvPr/>
        </p:nvSpPr>
        <p:spPr>
          <a:xfrm>
            <a:off x="9169873" y="757617"/>
            <a:ext cx="2916000" cy="5945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E4DC9AD-40E7-C106-54B8-76F300E5798F}"/>
              </a:ext>
            </a:extLst>
          </p:cNvPr>
          <p:cNvSpPr txBox="1"/>
          <p:nvPr/>
        </p:nvSpPr>
        <p:spPr>
          <a:xfrm>
            <a:off x="3185678" y="835382"/>
            <a:ext cx="2855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/>
              <a:t>Select</a:t>
            </a:r>
            <a:r>
              <a:rPr lang="pt-BR" sz="2800" b="1" dirty="0"/>
              <a:t> Atributes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513E82-A233-94E8-917E-165FEAC5FE30}"/>
              </a:ext>
            </a:extLst>
          </p:cNvPr>
          <p:cNvSpPr txBox="1"/>
          <p:nvPr/>
        </p:nvSpPr>
        <p:spPr>
          <a:xfrm>
            <a:off x="92017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80459FB-00A8-1F21-421B-C092DAF29547}"/>
              </a:ext>
            </a:extLst>
          </p:cNvPr>
          <p:cNvSpPr txBox="1"/>
          <p:nvPr/>
        </p:nvSpPr>
        <p:spPr>
          <a:xfrm>
            <a:off x="6279340" y="835382"/>
            <a:ext cx="278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Cross </a:t>
            </a:r>
            <a:r>
              <a:rPr lang="pt-BR" sz="2400" b="1" dirty="0" err="1"/>
              <a:t>Validation</a:t>
            </a:r>
            <a:endParaRPr lang="pt-BR" sz="24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B0E7BDC-5C99-FF22-2599-2A9AE824253C}"/>
              </a:ext>
            </a:extLst>
          </p:cNvPr>
          <p:cNvSpPr txBox="1"/>
          <p:nvPr/>
        </p:nvSpPr>
        <p:spPr>
          <a:xfrm>
            <a:off x="9237582" y="835382"/>
            <a:ext cx="278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Grid Search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11DCF7D-A8FC-D673-2EAD-BFF7D8480343}"/>
              </a:ext>
            </a:extLst>
          </p:cNvPr>
          <p:cNvSpPr txBox="1"/>
          <p:nvPr/>
        </p:nvSpPr>
        <p:spPr>
          <a:xfrm>
            <a:off x="107487" y="1447497"/>
            <a:ext cx="28404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Técnica utilizada para reduzir o número de variáveis de um conjunto de dados, mantendo o máximo possível da informação essencial, cria atributos artificiais.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CB6DCF5-8DE7-80F8-064C-FD7B2C5ED3CF}"/>
              </a:ext>
            </a:extLst>
          </p:cNvPr>
          <p:cNvSpPr txBox="1"/>
          <p:nvPr/>
        </p:nvSpPr>
        <p:spPr>
          <a:xfrm>
            <a:off x="92016" y="2790056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Número de componentes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AA9B232-F7B7-2A04-90A6-D6FEE6EE46F1}"/>
              </a:ext>
            </a:extLst>
          </p:cNvPr>
          <p:cNvSpPr txBox="1"/>
          <p:nvPr/>
        </p:nvSpPr>
        <p:spPr>
          <a:xfrm>
            <a:off x="76545" y="3259219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0A416A3-E605-7C32-76C3-0C3865723100}"/>
              </a:ext>
            </a:extLst>
          </p:cNvPr>
          <p:cNvSpPr txBox="1"/>
          <p:nvPr/>
        </p:nvSpPr>
        <p:spPr>
          <a:xfrm>
            <a:off x="116050" y="3522372"/>
            <a:ext cx="2855962" cy="8617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PCA(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n_components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=5)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X_pca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pca.fit_transform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X_teste_pca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pca.transform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9A99D11-ED77-9057-9231-060F6453171A}"/>
              </a:ext>
            </a:extLst>
          </p:cNvPr>
          <p:cNvSpPr txBox="1"/>
          <p:nvPr/>
        </p:nvSpPr>
        <p:spPr>
          <a:xfrm>
            <a:off x="3102498" y="1860129"/>
            <a:ext cx="284049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Testa todas as combinações possíveis de atributos para encontrar o subconjunto que gera o melhor desempenho do modelo.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0D04501-888E-DA42-F5F2-633F6D77FE16}"/>
              </a:ext>
            </a:extLst>
          </p:cNvPr>
          <p:cNvSpPr txBox="1"/>
          <p:nvPr/>
        </p:nvSpPr>
        <p:spPr>
          <a:xfrm>
            <a:off x="3110169" y="3025830"/>
            <a:ext cx="28404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K (Número de atributos)</a:t>
            </a:r>
          </a:p>
          <a:p>
            <a:r>
              <a:rPr lang="pt-BR" sz="1400" dirty="0" err="1"/>
              <a:t>F_classif</a:t>
            </a:r>
            <a:r>
              <a:rPr lang="pt-BR" sz="1400" dirty="0"/>
              <a:t> (Para atributos numéricos.</a:t>
            </a:r>
          </a:p>
          <a:p>
            <a:r>
              <a:rPr lang="pt-BR" sz="1400" dirty="0"/>
              <a:t>Chi2 (Para atributos categóricos)</a:t>
            </a:r>
          </a:p>
          <a:p>
            <a:endParaRPr lang="pt-BR" sz="140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CC8D3D3-BC3E-D4EC-7C71-59DFC971C209}"/>
              </a:ext>
            </a:extLst>
          </p:cNvPr>
          <p:cNvSpPr txBox="1"/>
          <p:nvPr/>
        </p:nvSpPr>
        <p:spPr>
          <a:xfrm>
            <a:off x="3088013" y="4384146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5134935-FCE6-2751-0422-E99A36324A91}"/>
              </a:ext>
            </a:extLst>
          </p:cNvPr>
          <p:cNvSpPr txBox="1"/>
          <p:nvPr/>
        </p:nvSpPr>
        <p:spPr>
          <a:xfrm>
            <a:off x="3117969" y="4764158"/>
            <a:ext cx="2855962" cy="5539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selecao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SelectKBest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f_classif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k=7)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selecao.fit_transform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B6F4A90-AF66-497F-2866-23496A5700DE}"/>
              </a:ext>
            </a:extLst>
          </p:cNvPr>
          <p:cNvSpPr txBox="1"/>
          <p:nvPr/>
        </p:nvSpPr>
        <p:spPr>
          <a:xfrm>
            <a:off x="6096000" y="2701683"/>
            <a:ext cx="2888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Avalia o desempenho de um modelo de aprendizado de máquina de forma mais confiável evitando que ele pareça melhor (ou pior) do que realmente é.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EF309E0-ACC6-8486-CD01-11F668187A75}"/>
              </a:ext>
            </a:extLst>
          </p:cNvPr>
          <p:cNvSpPr txBox="1"/>
          <p:nvPr/>
        </p:nvSpPr>
        <p:spPr>
          <a:xfrm>
            <a:off x="6083883" y="4046933"/>
            <a:ext cx="2840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Número de divisões</a:t>
            </a:r>
          </a:p>
          <a:p>
            <a:r>
              <a:rPr lang="pt-BR" sz="1400" dirty="0"/>
              <a:t>Embaralhamento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6B624C1-2DE6-0296-AAB0-DD0D4318AAA3}"/>
              </a:ext>
            </a:extLst>
          </p:cNvPr>
          <p:cNvSpPr txBox="1"/>
          <p:nvPr/>
        </p:nvSpPr>
        <p:spPr>
          <a:xfrm>
            <a:off x="6083884" y="4655516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5F16E66-CE57-76E7-4131-0EA8F3287F8F}"/>
              </a:ext>
            </a:extLst>
          </p:cNvPr>
          <p:cNvSpPr txBox="1"/>
          <p:nvPr/>
        </p:nvSpPr>
        <p:spPr>
          <a:xfrm>
            <a:off x="6121768" y="4930832"/>
            <a:ext cx="2855962" cy="11695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kfold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KFold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n_splits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=10,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shuffle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random_state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=1)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svm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SVC(kernel = '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rbf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', C = 1.5)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scores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cross_val_score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svm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X, y, cv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kfold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051CAFE-B228-B755-0811-F064FA593322}"/>
              </a:ext>
            </a:extLst>
          </p:cNvPr>
          <p:cNvSpPr txBox="1"/>
          <p:nvPr/>
        </p:nvSpPr>
        <p:spPr>
          <a:xfrm>
            <a:off x="57128" y="202180"/>
            <a:ext cx="5049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Otimização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519F41C-F868-E709-EE25-23B180C82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613" y="1322918"/>
            <a:ext cx="2868615" cy="117827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DE4A07-DB6D-66F2-6A46-00F683451728}"/>
              </a:ext>
            </a:extLst>
          </p:cNvPr>
          <p:cNvSpPr txBox="1"/>
          <p:nvPr/>
        </p:nvSpPr>
        <p:spPr>
          <a:xfrm>
            <a:off x="9196102" y="1576267"/>
            <a:ext cx="2888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Característica:</a:t>
            </a:r>
          </a:p>
          <a:p>
            <a:r>
              <a:rPr lang="pt-BR" sz="1400" dirty="0"/>
              <a:t>Testa várias combinações de parâmetros de um modelo de machine learning e </a:t>
            </a:r>
            <a:r>
              <a:rPr lang="pt-BR" sz="1400" dirty="0" err="1"/>
              <a:t>descobrie</a:t>
            </a:r>
            <a:r>
              <a:rPr lang="pt-BR" sz="1400" dirty="0"/>
              <a:t> qual configuração gera o melhor desempenho.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C239905-4764-5E85-149F-2E2BE7776D66}"/>
              </a:ext>
            </a:extLst>
          </p:cNvPr>
          <p:cNvSpPr txBox="1"/>
          <p:nvPr/>
        </p:nvSpPr>
        <p:spPr>
          <a:xfrm>
            <a:off x="9203441" y="3010938"/>
            <a:ext cx="284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Hiperparâmetro</a:t>
            </a:r>
            <a:r>
              <a:rPr lang="pt-BR" sz="1400" b="1" dirty="0"/>
              <a:t>:</a:t>
            </a:r>
          </a:p>
          <a:p>
            <a:r>
              <a:rPr lang="pt-BR" sz="1400" dirty="0"/>
              <a:t>Algoritmo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D606121-831C-E10D-047C-3199BB72D5D8}"/>
              </a:ext>
            </a:extLst>
          </p:cNvPr>
          <p:cNvSpPr txBox="1"/>
          <p:nvPr/>
        </p:nvSpPr>
        <p:spPr>
          <a:xfrm>
            <a:off x="9187970" y="3464048"/>
            <a:ext cx="2840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Código: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5EE389B-4CD7-63AA-B4E9-58D056E4F0A2}"/>
              </a:ext>
            </a:extLst>
          </p:cNvPr>
          <p:cNvSpPr txBox="1"/>
          <p:nvPr/>
        </p:nvSpPr>
        <p:spPr>
          <a:xfrm>
            <a:off x="9187970" y="3750437"/>
            <a:ext cx="2896543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parametros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{'C': [1.0, 1.5, 2.0],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'kernel': ['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rbf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', 'linear', '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poly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', '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sigmoid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’]}</a:t>
            </a: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grid_search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GridSearchCV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estimator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=SVC(),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param_grid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parametros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grid_search.fit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y)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melhores_parametros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grid_search.best_params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melhor_resultado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grid_search.best_score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 </a:t>
            </a:r>
          </a:p>
          <a:p>
            <a:pPr marL="180340" marR="180340">
              <a:buNone/>
            </a:pPr>
            <a:endParaRPr lang="pt-BR" sz="10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melhores_parametros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pt-BR" sz="10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melhor_resultado</a:t>
            </a:r>
            <a:r>
              <a:rPr lang="pt-BR" sz="10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623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8366-F71E-122E-173D-45F2DDAC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go dos 7 Erros | Games | John Deere BR">
            <a:extLst>
              <a:ext uri="{FF2B5EF4-FFF2-40B4-BE49-F238E27FC236}">
                <a16:creationId xmlns:a16="http://schemas.microsoft.com/office/drawing/2014/main" id="{DB22E16A-6905-0065-98BD-2576178D2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50" y="2218115"/>
            <a:ext cx="10450300" cy="2421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DF70C00-A335-3F67-0B11-FB8CD852E31A}"/>
              </a:ext>
            </a:extLst>
          </p:cNvPr>
          <p:cNvSpPr txBox="1"/>
          <p:nvPr/>
        </p:nvSpPr>
        <p:spPr>
          <a:xfrm>
            <a:off x="6423804" y="3702227"/>
            <a:ext cx="1689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OU MAIS</a:t>
            </a:r>
          </a:p>
        </p:txBody>
      </p:sp>
    </p:spTree>
    <p:extLst>
      <p:ext uri="{BB962C8B-B14F-4D97-AF65-F5344CB8AC3E}">
        <p14:creationId xmlns:p14="http://schemas.microsoft.com/office/powerpoint/2010/main" val="2861497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CF02A-E696-967A-1469-6E7FB36F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A748113-2301-938E-8798-5084F4A7FDE9}"/>
              </a:ext>
            </a:extLst>
          </p:cNvPr>
          <p:cNvSpPr txBox="1"/>
          <p:nvPr/>
        </p:nvSpPr>
        <p:spPr>
          <a:xfrm>
            <a:off x="114300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sklearn.preprocessing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LabelEncoder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train_testsplit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sklearn.naive_bayes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Gaussi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osan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NB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pd.read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("census.csv")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base.iloc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[:, 0:14].value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base.iloc</a:t>
            </a: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[:, 0:14].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values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lb = 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LabelEncoder</a:t>
            </a: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lb.fit_transform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(X[:,1])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test_size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=0.8)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GaussianNB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model.fit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model.predict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/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647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0543-1291-4083-A961-C80A69A2E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2FF5E9C-F5C4-F187-F967-3F1B173A0741}"/>
              </a:ext>
            </a:extLst>
          </p:cNvPr>
          <p:cNvSpPr txBox="1"/>
          <p:nvPr/>
        </p:nvSpPr>
        <p:spPr>
          <a:xfrm>
            <a:off x="114300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sklearn.preprocessing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LabelEncoder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train_testsplit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sklearn.naive_bayes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Gaussi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osan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NB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pd.read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("census.csv")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base.iloc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[:, 0:14].value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base.iloc</a:t>
            </a: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[:, 0:14].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values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lb = 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LabelEncoder</a:t>
            </a: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lb.fit_transform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(X[:,1])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test_size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=0.8)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GaussianNB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model.fit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model.predict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/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938465-861F-27CF-A5E3-40255216FC6C}"/>
              </a:ext>
            </a:extLst>
          </p:cNvPr>
          <p:cNvSpPr txBox="1"/>
          <p:nvPr/>
        </p:nvSpPr>
        <p:spPr>
          <a:xfrm>
            <a:off x="5983138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sklearn.preprocessing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LabelEncoder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pt-BR" sz="1800" kern="600" dirty="0">
              <a:effectLst/>
              <a:highlight>
                <a:srgbClr val="FFFF00"/>
              </a:highlight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sklearn.naive_bayes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sz="1800" kern="600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GaussianNB</a:t>
            </a:r>
            <a:endParaRPr lang="pt-BR" sz="1800" kern="600" dirty="0">
              <a:effectLst/>
              <a:highlight>
                <a:srgbClr val="FFFF00"/>
              </a:highlight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pd.read</a:t>
            </a:r>
            <a:r>
              <a:rPr lang="en-US" sz="1800" kern="600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_csv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("census.csv")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base.iloc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[:, 0:14].value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base.iloc</a:t>
            </a: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[:, </a:t>
            </a:r>
            <a:r>
              <a:rPr lang="es-ES" sz="1800" kern="600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14</a:t>
            </a: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].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values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lb = </a:t>
            </a:r>
            <a:r>
              <a:rPr lang="es-E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LabelEncoder</a:t>
            </a:r>
            <a:r>
              <a:rPr lang="es-E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X[:,1] 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lb.fit_transform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(X[:,1])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</a:t>
            </a:r>
            <a:r>
              <a:rPr lang="en-US" sz="1800" kern="600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test_size</a:t>
            </a:r>
            <a:r>
              <a:rPr lang="en-US" sz="1800" kern="600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=0.8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GaussianNB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model.fit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kern="600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model.predict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kern="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/>
            <a:r>
              <a:rPr lang="en-US" sz="1800" kern="6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79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3672-7032-FE89-D8BD-38E02EFF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2138788-CC58-CF5D-5472-3388826B0F3C}"/>
              </a:ext>
            </a:extLst>
          </p:cNvPr>
          <p:cNvSpPr txBox="1"/>
          <p:nvPr/>
        </p:nvSpPr>
        <p:spPr>
          <a:xfrm>
            <a:off x="114300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sklearn.datasets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sklearn.linear_model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LogisticRegressor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sklearn.metrics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accuracy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dados.data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dados.targets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test=0.2)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LogisticRegressor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modelo.justify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previsoes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modelo.preview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acuracy_score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previsoes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</a:p>
          <a:p>
            <a:pPr marL="180340" marR="180340">
              <a:buNone/>
            </a:pP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571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9469-E1B4-E98F-DA3B-81EDA0C3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EDE1FFC-50E7-6D3C-6846-EBED8778EBE4}"/>
              </a:ext>
            </a:extLst>
          </p:cNvPr>
          <p:cNvSpPr txBox="1"/>
          <p:nvPr/>
        </p:nvSpPr>
        <p:spPr>
          <a:xfrm>
            <a:off x="114300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sklearn.datasets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sklearn.linear_model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LogisticRegressor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sklearn.metrics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accuracy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dados.data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dados.targets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test=0.2)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LogisticRegressor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modelo.justify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previsoes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modelo.preview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acuracy_score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previsoes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</a:p>
          <a:p>
            <a:pPr marL="180340" marR="180340">
              <a:buNone/>
            </a:pP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4750A13-62B9-DCF3-C49B-8D0BFBA23E40}"/>
              </a:ext>
            </a:extLst>
          </p:cNvPr>
          <p:cNvSpPr txBox="1"/>
          <p:nvPr/>
        </p:nvSpPr>
        <p:spPr>
          <a:xfrm>
            <a:off x="5983138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sklearn.datasets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sklearn.linear_model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LogisticRegression</a:t>
            </a:r>
            <a:endParaRPr lang="en-US" kern="600" dirty="0">
              <a:highlight>
                <a:srgbClr val="FFFF00"/>
              </a:highlight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sklearn.metrics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accuracy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dados.data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target</a:t>
            </a:r>
            <a:endParaRPr lang="en-US" kern="600" dirty="0">
              <a:highlight>
                <a:srgbClr val="FFFF00"/>
              </a:highlight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test=0.2)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/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LogisticRegression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previsoes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predict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accuracy_score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previsoes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</a:p>
          <a:p>
            <a:pPr marL="180340" marR="180340">
              <a:buNone/>
            </a:pP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107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81EB-F4F5-E805-37C4-2E534CF8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814A4E0-946B-02AE-1A41-652B34A81F3F}"/>
              </a:ext>
            </a:extLst>
          </p:cNvPr>
          <p:cNvSpPr txBox="1"/>
          <p:nvPr/>
        </p:nvSpPr>
        <p:spPr>
          <a:xfrm>
            <a:off x="114300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sklearn.neighbors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KNeighborsClassifier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sklearn.modelSelection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datasets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datasets.load_iris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iris.data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iris.target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teste=0.3)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KNeighborsClassifier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n_neighbors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="5")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knn.fit_transform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knn.predict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(X_train)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knn.score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X_test,y_test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0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6E62-C419-DFD2-4A02-653F15C8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225C000-6B6B-87D5-291C-2763043A3CFF}"/>
              </a:ext>
            </a:extLst>
          </p:cNvPr>
          <p:cNvSpPr txBox="1"/>
          <p:nvPr/>
        </p:nvSpPr>
        <p:spPr>
          <a:xfrm>
            <a:off x="114300" y="197346"/>
            <a:ext cx="6094562" cy="61863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sklearn.neighbors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KNeighborsClassifier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sklearn.modelSelection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datasets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datasets.load_iris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iris.data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iris.target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teste=0.3)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KNeighborsClassifier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n_neighbors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="5")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knn.fit_transform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knn.predict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(X_train)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</a:p>
          <a:p>
            <a:pPr marL="180340" marR="180340">
              <a:buNone/>
            </a:pPr>
            <a:endParaRPr lang="en-US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knn.score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X_test,y_test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</a:p>
          <a:p>
            <a:pPr marL="180340" marR="180340">
              <a:buNone/>
            </a:pP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870F586-8B9D-4F23-D801-831A566F7AA2}"/>
              </a:ext>
            </a:extLst>
          </p:cNvPr>
          <p:cNvSpPr txBox="1"/>
          <p:nvPr/>
        </p:nvSpPr>
        <p:spPr>
          <a:xfrm>
            <a:off x="5983138" y="197346"/>
            <a:ext cx="6094562" cy="61863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sklearn.neighbors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KNeighborsClassifier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model_selection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datasets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datasets.load_iris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iris.data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iris.target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(X, y, 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test_size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=0.3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KNeighborsClassifier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n_neighbors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5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knn.fit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knn.predict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</a:p>
          <a:p>
            <a:pPr marL="180340" marR="180340">
              <a:buNone/>
            </a:pPr>
            <a:endParaRPr lang="en-US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/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accuracy_score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y_test,pred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</a:p>
          <a:p>
            <a:pPr marL="180340" marR="180340">
              <a:buNone/>
            </a:pP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964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3D5C-3A83-4F7D-512F-07255271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3C0D654-B38C-3724-B528-9025410329ED}"/>
              </a:ext>
            </a:extLst>
          </p:cNvPr>
          <p:cNvSpPr txBox="1"/>
          <p:nvPr/>
        </p:nvSpPr>
        <p:spPr>
          <a:xfrm>
            <a:off x="114300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sklearn.decomposition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PCA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sklearn.svm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SVC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sklearn.datasets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dados.data.values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dados.targetes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PCA(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n_components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=0)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X_pca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pca.fit_transformes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(y, X,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teste_size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=20)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SVC(kernel="linear")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modelo.predict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X_treino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  <a:endParaRPr lang="pt-BR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868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F960-B9E8-E25B-31B7-9DBF90037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F416CB8-66AF-4248-59A1-A7E02B37A22A}"/>
              </a:ext>
            </a:extLst>
          </p:cNvPr>
          <p:cNvSpPr txBox="1"/>
          <p:nvPr/>
        </p:nvSpPr>
        <p:spPr>
          <a:xfrm>
            <a:off x="114300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sklearn.decomposition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PCA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sklearn.svm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SVC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sklearn.datasets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dados.data.values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dados.targetes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PCA(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n_components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=0)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X_pca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pca.fit_transformes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(y, X,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teste_size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=20)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SVC(kernel="linear")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modelo.predict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X_treino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DB0B52E-C338-8D03-8395-67DC8368696B}"/>
              </a:ext>
            </a:extLst>
          </p:cNvPr>
          <p:cNvSpPr txBox="1"/>
          <p:nvPr/>
        </p:nvSpPr>
        <p:spPr>
          <a:xfrm>
            <a:off x="5983138" y="197346"/>
            <a:ext cx="6094562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sklearn.decomposition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PCA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sklearn.svm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SVC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sklearn.model_selection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sklearn.datasets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load_breast_cancer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</a:t>
            </a:r>
            <a:endParaRPr lang="en-US" kern="600" dirty="0">
              <a:highlight>
                <a:srgbClr val="FFFF00"/>
              </a:highlight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dados.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target</a:t>
            </a:r>
            <a:endParaRPr lang="en-US" kern="600" dirty="0">
              <a:highlight>
                <a:srgbClr val="FFFF00"/>
              </a:highlight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PCA(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n_components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3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X_pca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pca.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fit_transform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y_test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train_test_split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X_pca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y</a:t>
            </a:r>
            <a:r>
              <a:rPr lang="en-US" kern="600" dirty="0">
                <a:solidFill>
                  <a:schemeClr val="bg2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test_size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=0.2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SVC(kernel="linear")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(X_train,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y_train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pred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modelo.predict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X_treino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print(pred)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589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2422-745D-7343-8FDD-86A95689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892B67A-CDAE-078A-46E8-43CA0B404588}"/>
              </a:ext>
            </a:extLst>
          </p:cNvPr>
          <p:cNvSpPr txBox="1"/>
          <p:nvPr/>
        </p:nvSpPr>
        <p:spPr>
          <a:xfrm>
            <a:off x="114300" y="1582340"/>
            <a:ext cx="6094562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seaborn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matplotlib as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df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pandas.load_csv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("credit.csv")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df.corrcoef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plt.figure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figsize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=(5,5))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seaborn.heat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anotation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=True,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cmap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="blues")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plt.titulo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Matriz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Correlação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plt.shaw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06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7498-8428-5ABF-7E4F-4DB0FCC8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95CE053-A7E3-B7C5-3953-08AEDAE04AAB}"/>
              </a:ext>
            </a:extLst>
          </p:cNvPr>
          <p:cNvSpPr txBox="1"/>
          <p:nvPr/>
        </p:nvSpPr>
        <p:spPr>
          <a:xfrm>
            <a:off x="114300" y="1582340"/>
            <a:ext cx="6094562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seaborn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matplotlib as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df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pandas.load_csv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("credit.csv")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df.corrcoef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plt.figure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figsize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=(5,5))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seaborn.heat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anotation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=True,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cmap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="blues")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plt.titulo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Matriz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Correlação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plt.shaw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solidFill>
                <a:srgbClr val="CCCCCC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64EF319-9B92-3570-B631-3EBE3993745F}"/>
              </a:ext>
            </a:extLst>
          </p:cNvPr>
          <p:cNvSpPr txBox="1"/>
          <p:nvPr/>
        </p:nvSpPr>
        <p:spPr>
          <a:xfrm>
            <a:off x="5983138" y="1582340"/>
            <a:ext cx="6094562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pandas as pd</a:t>
            </a: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seaborn 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 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sns</a:t>
            </a:r>
            <a:endParaRPr lang="en-US" kern="600" dirty="0">
              <a:highlight>
                <a:srgbClr val="FFFF00"/>
              </a:highlight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matplotlib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.pyplot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</a:t>
            </a: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df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pandas.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read_csv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("credit.csv")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df.corr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</a:p>
          <a:p>
            <a:pPr marL="180340" marR="180340">
              <a:buNone/>
            </a:pPr>
            <a:endParaRPr lang="en-US" kern="600" dirty="0">
              <a:solidFill>
                <a:srgbClr val="CCCCCC"/>
              </a:solidFill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plt.figure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figsize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=(5,5))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seaborn.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heatmap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annotation=True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cmap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="blues")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title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("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Matriz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Correlação</a:t>
            </a:r>
            <a:r>
              <a:rPr lang="en-US" kern="600" dirty="0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")</a:t>
            </a:r>
          </a:p>
          <a:p>
            <a:pPr marL="180340" marR="180340">
              <a:buNone/>
            </a:pPr>
            <a:r>
              <a:rPr lang="en-US" kern="600" dirty="0" err="1">
                <a:solidFill>
                  <a:srgbClr val="CCCCCC"/>
                </a:solidFill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plt.</a:t>
            </a:r>
            <a:r>
              <a:rPr lang="en-US" kern="600" dirty="0" err="1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show</a:t>
            </a:r>
            <a:r>
              <a:rPr lang="en-US" kern="600" dirty="0">
                <a:highlight>
                  <a:srgbClr val="FFFF00"/>
                </a:highlight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pt-BR" sz="1800" kern="600" dirty="0">
              <a:effectLst/>
              <a:highlight>
                <a:srgbClr val="FFFF00"/>
              </a:highlight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7199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3303</Words>
  <Application>Microsoft Office PowerPoint</Application>
  <PresentationFormat>Widescreen</PresentationFormat>
  <Paragraphs>499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Lima Queila (CtP/ETS)</dc:creator>
  <cp:lastModifiedBy>Lima Queila (CtP/ETS)</cp:lastModifiedBy>
  <cp:revision>5</cp:revision>
  <dcterms:created xsi:type="dcterms:W3CDTF">2025-11-15T16:05:38Z</dcterms:created>
  <dcterms:modified xsi:type="dcterms:W3CDTF">2026-06-26T14:18:47Z</dcterms:modified>
</cp:coreProperties>
</file>